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12188952" cy="36576"/>
          </a:xfrm>
          <a:prstGeom prst="rect">
            <a:avLst/>
          </a:prstGeom>
          <a:solidFill>
            <a:srgbClr val="4A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63640"/>
            <a:ext cx="12188952" cy="36576"/>
          </a:xfrm>
          <a:prstGeom prst="rect">
            <a:avLst/>
          </a:prstGeom>
          <a:solidFill>
            <a:srgbClr val="4A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AAA6A"/>
                </a:solidFill>
                <a:latin typeface="Courier New"/>
              </a:rPr>
              <a:t>// BIOKEY SYSTEM v2.0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E8F5E0"/>
                </a:solidFill>
                <a:latin typeface="Courier New"/>
              </a:rPr>
              <a:t>Your heartbeat is the key —
at any stress level.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4903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A9A4A"/>
                </a:solidFill>
                <a:latin typeface="Courier New"/>
              </a:rPr>
              <a:t>Stress-Invariant Biometric Authentication  ·  AES-256-GCM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26280"/>
            <a:ext cx="12188952" cy="54864"/>
          </a:xfrm>
          <a:prstGeom prst="rect">
            <a:avLst/>
          </a:prstGeom>
          <a:solidFill>
            <a:srgbClr val="1A3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709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AAA6A"/>
                </a:solidFill>
                <a:latin typeface="Courier New"/>
              </a:rPr>
              <a:t>HackTM 2026   //   Defence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166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AA6A"/>
                </a:solidFill>
                <a:latin typeface="Courier New"/>
              </a:rPr>
              <a:t>Jigmond Alexandru   ·   Milotin Rareș   ·   Sramec Iosif   ·   Stan Cristian     //     UPT AC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12188952" cy="36576"/>
          </a:xfrm>
          <a:prstGeom prst="rect">
            <a:avLst/>
          </a:prstGeom>
          <a:solidFill>
            <a:srgbClr val="4A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AA6A"/>
                </a:solidFill>
                <a:latin typeface="Courier New"/>
              </a:rPr>
              <a:t>// 01 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058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E8F5E0"/>
                </a:solidFill>
                <a:latin typeface="Courier New"/>
              </a:rPr>
              <a:t>Authentication breaks
when it matters most.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43200"/>
            <a:ext cx="2743200" cy="1828800"/>
          </a:xfrm>
          <a:prstGeom prst="rect">
            <a:avLst/>
          </a:prstGeom>
          <a:solidFill>
            <a:srgbClr val="142A14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83464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C1C"/>
                </a:solidFill>
                <a:latin typeface="Courier New"/>
              </a:rPr>
              <a:t>PASSWORDS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29184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AAA6A"/>
                </a:solidFill>
                <a:latin typeface="Courier New"/>
              </a:rPr>
              <a:t>Forgotten under stress.
Coerced under threat.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2743200"/>
            <a:ext cx="2743200" cy="1828800"/>
          </a:xfrm>
          <a:prstGeom prst="rect">
            <a:avLst/>
          </a:prstGeom>
          <a:solidFill>
            <a:srgbClr val="142A14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283464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C1C"/>
                </a:solidFill>
                <a:latin typeface="Courier New"/>
              </a:rPr>
              <a:t>SMART CARDS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29184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AAA6A"/>
                </a:solidFill>
                <a:latin typeface="Courier New"/>
              </a:rPr>
              <a:t>Lost in the field.
Stolen with the operator.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743200"/>
            <a:ext cx="2743200" cy="1828800"/>
          </a:xfrm>
          <a:prstGeom prst="rect">
            <a:avLst/>
          </a:prstGeom>
          <a:solidFill>
            <a:srgbClr val="142A14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83464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C1C"/>
                </a:solidFill>
                <a:latin typeface="Courier New"/>
              </a:rPr>
              <a:t>FINGERPRINTS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29184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AAA6A"/>
                </a:solidFill>
                <a:latin typeface="Courier New"/>
              </a:rPr>
              <a:t>Fail with gloves.
Fail when injured.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98280" y="2743200"/>
            <a:ext cx="2743200" cy="1828800"/>
          </a:xfrm>
          <a:prstGeom prst="rect">
            <a:avLst/>
          </a:prstGeom>
          <a:solidFill>
            <a:srgbClr val="142A14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283464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C1C"/>
                </a:solidFill>
                <a:latin typeface="Courier New"/>
              </a:rPr>
              <a:t>BIOMETRICS AT 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329184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AAA6A"/>
                </a:solidFill>
                <a:latin typeface="Courier New"/>
              </a:rPr>
              <a:t>ECG at 160 bpm ≠ ECG at 70 bpm.
System denies its own operator.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4C500"/>
                </a:solidFill>
                <a:latin typeface="Courier New"/>
              </a:rPr>
              <a:t>→  In the critical moment, the system locks out the right person.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263640"/>
            <a:ext cx="12188952" cy="36576"/>
          </a:xfrm>
          <a:prstGeom prst="rect">
            <a:avLst/>
          </a:prstGeom>
          <a:solidFill>
            <a:srgbClr val="4A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12188952" cy="36576"/>
          </a:xfrm>
          <a:prstGeom prst="rect">
            <a:avLst/>
          </a:prstGeom>
          <a:solidFill>
            <a:srgbClr val="4A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AA6A"/>
                </a:solidFill>
                <a:latin typeface="Courier New"/>
              </a:rPr>
              <a:t>// 02 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1">
                <a:solidFill>
                  <a:srgbClr val="4A9A4A"/>
                </a:solidFill>
                <a:latin typeface="Courier New"/>
              </a:rPr>
              <a:t>"ECG is unique and always present.
The problem is that nobody enrolled
the operator under stress."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5303520" cy="1737360"/>
          </a:xfrm>
          <a:prstGeom prst="rect">
            <a:avLst/>
          </a:prstGeom>
          <a:solidFill>
            <a:srgbClr val="142A14"/>
          </a:solidFill>
          <a:ln w="15240">
            <a:solidFill>
              <a:srgbClr val="4A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22452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C1C"/>
                </a:solidFill>
                <a:latin typeface="Courier New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61772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AAA6A"/>
                </a:solidFill>
                <a:latin typeface="Courier New"/>
              </a:rPr>
              <a:t>Soldier at rest: HR ~70 bpm
Under combat stress: 140–160 bpm
ECG morphology shifts → single template fails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4114800"/>
            <a:ext cx="5303520" cy="1737360"/>
          </a:xfrm>
          <a:prstGeom prst="rect">
            <a:avLst/>
          </a:prstGeom>
          <a:solidFill>
            <a:srgbClr val="142A14"/>
          </a:solidFill>
          <a:ln w="25400">
            <a:solidFill>
              <a:srgbClr val="4A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422452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9A4A"/>
                </a:solidFill>
                <a:latin typeface="Courier New"/>
              </a:rPr>
              <a:t>THE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461772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5E0"/>
                </a:solidFill>
                <a:latin typeface="Courier New"/>
              </a:rPr>
              <a:t>Enroll the operator at ALL stress levels.
System recognizes at 60 bpm and 160 bpm.
No manual state input required.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63640"/>
            <a:ext cx="12188952" cy="36576"/>
          </a:xfrm>
          <a:prstGeom prst="rect">
            <a:avLst/>
          </a:prstGeom>
          <a:solidFill>
            <a:srgbClr val="4A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12188952" cy="36576"/>
          </a:xfrm>
          <a:prstGeom prst="rect">
            <a:avLst/>
          </a:prstGeom>
          <a:solidFill>
            <a:srgbClr val="4A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AA6A"/>
                </a:solidFill>
                <a:latin typeface="Courier New"/>
              </a:rPr>
              <a:t>// 03 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8F5E0"/>
                </a:solidFill>
                <a:latin typeface="Courier New"/>
              </a:rPr>
              <a:t>Multi-Template Stress Enrollment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AAA6A"/>
                </a:solidFill>
                <a:latin typeface="Courier New"/>
              </a:rPr>
              <a:t>Like a treadmill stress test at the cardiologist — capture biometric signature across the full physiological spectrum.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331720"/>
            <a:ext cx="2148840" cy="2560320"/>
          </a:xfrm>
          <a:prstGeom prst="rect">
            <a:avLst/>
          </a:prstGeom>
          <a:solidFill>
            <a:srgbClr val="1A351A"/>
          </a:solidFill>
          <a:ln w="15240">
            <a:solidFill>
              <a:srgbClr val="4A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450592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9A4A"/>
                </a:solidFill>
                <a:latin typeface="Courier New"/>
              </a:rPr>
              <a:t>REST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8036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8F5E0"/>
                </a:solidFill>
                <a:latin typeface="Courier New"/>
              </a:rPr>
              <a:t>60–90 bpm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2900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AAA6A"/>
                </a:solidFill>
                <a:latin typeface="Courier New"/>
              </a:rPr>
              <a:t>14 HRV
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1605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AAA6A"/>
                </a:solidFill>
                <a:latin typeface="Courier New"/>
              </a:rPr>
              <a:t>ECG + RESP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2331720"/>
            <a:ext cx="2148840" cy="2560320"/>
          </a:xfrm>
          <a:prstGeom prst="rect">
            <a:avLst/>
          </a:prstGeom>
          <a:solidFill>
            <a:srgbClr val="1A351A"/>
          </a:solidFill>
          <a:ln w="15240">
            <a:solidFill>
              <a:srgbClr val="4A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2450592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9A4A"/>
                </a:solidFill>
                <a:latin typeface="Courier New"/>
              </a:rPr>
              <a:t>LIGHT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88036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8F5E0"/>
                </a:solidFill>
                <a:latin typeface="Courier New"/>
              </a:rPr>
              <a:t>90–110 bpm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42900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AAA6A"/>
                </a:solidFill>
                <a:latin typeface="Courier New"/>
              </a:rPr>
              <a:t>14 HRV
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41605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AAA6A"/>
                </a:solidFill>
                <a:latin typeface="Courier New"/>
              </a:rPr>
              <a:t>ECG + RESP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2331720"/>
            <a:ext cx="2148840" cy="2560320"/>
          </a:xfrm>
          <a:prstGeom prst="rect">
            <a:avLst/>
          </a:prstGeom>
          <a:solidFill>
            <a:srgbClr val="1A351A"/>
          </a:solidFill>
          <a:ln w="15240">
            <a:solidFill>
              <a:srgbClr val="4A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4920" y="2450592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9A4A"/>
                </a:solidFill>
                <a:latin typeface="Courier New"/>
              </a:rPr>
              <a:t>MODERATE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288036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8F5E0"/>
                </a:solidFill>
                <a:latin typeface="Courier New"/>
              </a:rPr>
              <a:t>110–130 bpm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342900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AAA6A"/>
                </a:solidFill>
                <a:latin typeface="Courier New"/>
              </a:rPr>
              <a:t>14 HRV
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41605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AAA6A"/>
                </a:solidFill>
                <a:latin typeface="Courier New"/>
              </a:rPr>
              <a:t>ECG + RESP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60" y="2331720"/>
            <a:ext cx="2148840" cy="2560320"/>
          </a:xfrm>
          <a:prstGeom prst="rect">
            <a:avLst/>
          </a:prstGeom>
          <a:solidFill>
            <a:srgbClr val="1A351A"/>
          </a:solidFill>
          <a:ln w="15240">
            <a:solidFill>
              <a:srgbClr val="4A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2450592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9A4A"/>
                </a:solidFill>
                <a:latin typeface="Courier New"/>
              </a:rPr>
              <a:t>HEAVY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288036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8F5E0"/>
                </a:solidFill>
                <a:latin typeface="Courier New"/>
              </a:rPr>
              <a:t>130–160 bpm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42900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AAA6A"/>
                </a:solidFill>
                <a:latin typeface="Courier New"/>
              </a:rPr>
              <a:t>14 HRV
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1605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AAA6A"/>
                </a:solidFill>
                <a:latin typeface="Courier New"/>
              </a:rPr>
              <a:t>ECG + RESP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64040" y="2331720"/>
            <a:ext cx="2148840" cy="2560320"/>
          </a:xfrm>
          <a:prstGeom prst="rect">
            <a:avLst/>
          </a:prstGeom>
          <a:solidFill>
            <a:srgbClr val="1A351A"/>
          </a:solidFill>
          <a:ln w="15240">
            <a:solidFill>
              <a:srgbClr val="4A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55480" y="2450592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9A4A"/>
                </a:solidFill>
                <a:latin typeface="Courier New"/>
              </a:rPr>
              <a:t>COGNITIVE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288036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8F5E0"/>
                </a:solidFill>
                <a:latin typeface="Courier New"/>
              </a:rPr>
              <a:t>80–100 bpm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342900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AAA6A"/>
                </a:solidFill>
                <a:latin typeface="Courier New"/>
              </a:rPr>
              <a:t>14 HRV
features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55480" y="41605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AAA6A"/>
                </a:solidFill>
                <a:latin typeface="Courier New"/>
              </a:rPr>
              <a:t>ECG + RESP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120640"/>
            <a:ext cx="11247120" cy="777240"/>
          </a:xfrm>
          <a:prstGeom prst="rect">
            <a:avLst/>
          </a:prstGeom>
          <a:solidFill>
            <a:srgbClr val="142A14"/>
          </a:solidFill>
          <a:ln w="15240">
            <a:solidFill>
              <a:srgbClr val="2D7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257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F5E0"/>
                </a:solidFill>
                <a:latin typeface="Courier New"/>
              </a:rPr>
              <a:t>→  At authentication: live ECG + PIN → nearest template matched automatically → AES-256 key unwrapped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263640"/>
            <a:ext cx="12188952" cy="36576"/>
          </a:xfrm>
          <a:prstGeom prst="rect">
            <a:avLst/>
          </a:prstGeom>
          <a:solidFill>
            <a:srgbClr val="4A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12188952" cy="36576"/>
          </a:xfrm>
          <a:prstGeom prst="rect">
            <a:avLst/>
          </a:prstGeom>
          <a:solidFill>
            <a:srgbClr val="4A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AA6A"/>
                </a:solidFill>
                <a:latin typeface="Courier New"/>
              </a:rPr>
              <a:t>// 04  CRYPTOGRAPHIC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8F5E0"/>
                </a:solidFill>
                <a:latin typeface="Courier New"/>
              </a:rPr>
              <a:t>From ECG to AES-256 Key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5394960" cy="4526280"/>
          </a:xfrm>
          <a:prstGeom prst="rect">
            <a:avLst/>
          </a:prstGeom>
          <a:solidFill>
            <a:srgbClr val="102010"/>
          </a:solidFill>
          <a:ln w="10160">
            <a:solidFill>
              <a:srgbClr val="6AA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6420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AAA6A"/>
                </a:solidFill>
                <a:latin typeface="Courier New"/>
              </a:rPr>
              <a:t>ENROLLMENT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2377440" cy="594360"/>
          </a:xfrm>
          <a:prstGeom prst="rect">
            <a:avLst/>
          </a:prstGeom>
          <a:solidFill>
            <a:srgbClr val="1A351A"/>
          </a:solidFill>
          <a:ln w="19050">
            <a:solidFill>
              <a:srgbClr val="4A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031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F5E0"/>
                </a:solidFill>
                <a:latin typeface="Courier New"/>
              </a:rPr>
              <a:t>ECG + RESP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2011680"/>
            <a:ext cx="2377440" cy="594360"/>
          </a:xfrm>
          <a:prstGeom prst="rect">
            <a:avLst/>
          </a:prstGeom>
          <a:solidFill>
            <a:srgbClr val="1A351A"/>
          </a:solidFill>
          <a:ln w="19050">
            <a:solidFill>
              <a:srgbClr val="4A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21031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F5E0"/>
                </a:solidFill>
                <a:latin typeface="Courier New"/>
              </a:rPr>
              <a:t>PIN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6517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AAA6A"/>
                </a:solidFill>
                <a:latin typeface="Courier New"/>
              </a:rP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6517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AAA6A"/>
                </a:solidFill>
                <a:latin typeface="Courier New"/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999232"/>
            <a:ext cx="2377440" cy="594360"/>
          </a:xfrm>
          <a:prstGeom prst="rect">
            <a:avLst/>
          </a:prstGeom>
          <a:solidFill>
            <a:srgbClr val="142A14"/>
          </a:solidFill>
          <a:ln w="15240">
            <a:solidFill>
              <a:srgbClr val="4A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063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F5E0"/>
                </a:solidFill>
                <a:latin typeface="Courier New"/>
              </a:rPr>
              <a:t>Feature Extraction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2999232"/>
            <a:ext cx="2377440" cy="594360"/>
          </a:xfrm>
          <a:prstGeom prst="rect">
            <a:avLst/>
          </a:prstGeom>
          <a:solidFill>
            <a:srgbClr val="142A14"/>
          </a:solidFill>
          <a:ln w="15240">
            <a:solidFill>
              <a:srgbClr val="4A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3063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F5E0"/>
                </a:solidFill>
                <a:latin typeface="Courier New"/>
              </a:rPr>
              <a:t>SHA-256  →  salt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6301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AAA6A"/>
                </a:solidFill>
                <a:latin typeface="Courier New"/>
              </a:rPr>
              <a:t>↓  +  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977639"/>
            <a:ext cx="4983480" cy="594360"/>
          </a:xfrm>
          <a:prstGeom prst="rect">
            <a:avLst/>
          </a:prstGeom>
          <a:solidFill>
            <a:srgbClr val="142A14"/>
          </a:solidFill>
          <a:ln w="19050">
            <a:solidFill>
              <a:srgbClr val="4A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050791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A9A4A"/>
                </a:solidFill>
                <a:latin typeface="Courier New"/>
              </a:rPr>
              <a:t>HKDF( SHA-256(features),  salt=SHA-256(PIN) )  →  wrapping_key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79" y="459943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AAA6A"/>
                </a:solidFill>
                <a:latin typeface="Courier New"/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937760"/>
            <a:ext cx="4983480" cy="594360"/>
          </a:xfrm>
          <a:prstGeom prst="rect">
            <a:avLst/>
          </a:prstGeom>
          <a:solidFill>
            <a:srgbClr val="142A14"/>
          </a:solidFill>
          <a:ln w="15240">
            <a:solidFill>
              <a:srgbClr val="4A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010912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F5E0"/>
                </a:solidFill>
                <a:latin typeface="Courier New"/>
              </a:rPr>
              <a:t>AES-256-GCM.encrypt( aes_key )   [aes_key = os.urandom(32)]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1600200"/>
            <a:ext cx="5394960" cy="4526280"/>
          </a:xfrm>
          <a:prstGeom prst="rect">
            <a:avLst/>
          </a:prstGeom>
          <a:solidFill>
            <a:srgbClr val="102010"/>
          </a:solidFill>
          <a:ln w="10160">
            <a:solidFill>
              <a:srgbClr val="6AA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166420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AAA6A"/>
                </a:solidFill>
                <a:latin typeface="Courier New"/>
              </a:rPr>
              <a:t>AUTHENTICATION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29400" y="2011680"/>
            <a:ext cx="2377440" cy="594360"/>
          </a:xfrm>
          <a:prstGeom prst="rect">
            <a:avLst/>
          </a:prstGeom>
          <a:solidFill>
            <a:srgbClr val="1A351A"/>
          </a:solidFill>
          <a:ln w="19050">
            <a:solidFill>
              <a:srgbClr val="4A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21031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F5E0"/>
                </a:solidFill>
                <a:latin typeface="Courier New"/>
              </a:rPr>
              <a:t>Live ECG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35440" y="2011680"/>
            <a:ext cx="2377440" cy="594360"/>
          </a:xfrm>
          <a:prstGeom prst="rect">
            <a:avLst/>
          </a:prstGeom>
          <a:solidFill>
            <a:srgbClr val="1A351A"/>
          </a:solidFill>
          <a:ln w="19050">
            <a:solidFill>
              <a:srgbClr val="4A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21031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F5E0"/>
                </a:solidFill>
                <a:latin typeface="Courier New"/>
              </a:rPr>
              <a:t>PIN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26517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AAA6A"/>
                </a:solidFill>
                <a:latin typeface="Courier New"/>
              </a:rPr>
              <a:t>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29400" y="2999232"/>
            <a:ext cx="2377440" cy="594360"/>
          </a:xfrm>
          <a:prstGeom prst="rect">
            <a:avLst/>
          </a:prstGeom>
          <a:solidFill>
            <a:srgbClr val="142A14"/>
          </a:solidFill>
          <a:ln w="15240">
            <a:solidFill>
              <a:srgbClr val="4A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3063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F5E0"/>
                </a:solidFill>
                <a:latin typeface="Courier New"/>
              </a:rPr>
              <a:t>Feature Extraction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363016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AAA6A"/>
                </a:solidFill>
                <a:latin typeface="Courier New"/>
              </a:rPr>
              <a:t>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29400" y="3977639"/>
            <a:ext cx="4983480" cy="594360"/>
          </a:xfrm>
          <a:prstGeom prst="rect">
            <a:avLst/>
          </a:prstGeom>
          <a:solidFill>
            <a:srgbClr val="142A14"/>
          </a:solidFill>
          <a:ln w="15240">
            <a:solidFill>
              <a:srgbClr val="4A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4050791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F5E0"/>
                </a:solidFill>
                <a:latin typeface="Courier New"/>
              </a:rPr>
              <a:t>Similarity( live, template_i ) × 5  →  best &gt; 0.85 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45994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AAA6A"/>
                </a:solidFill>
                <a:latin typeface="Courier New"/>
              </a:rPr>
              <a:t>↓ YES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45994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91C1C"/>
                </a:solidFill>
                <a:latin typeface="Courier New"/>
              </a:rPr>
              <a:t>NO 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29400" y="4937760"/>
            <a:ext cx="2834640" cy="594360"/>
          </a:xfrm>
          <a:prstGeom prst="rect">
            <a:avLst/>
          </a:prstGeom>
          <a:solidFill>
            <a:srgbClr val="142A14"/>
          </a:solidFill>
          <a:ln w="19050">
            <a:solidFill>
              <a:srgbClr val="4A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20840" y="496519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9A4A"/>
                </a:solidFill>
                <a:latin typeface="Courier New"/>
              </a:rPr>
              <a:t>HKDF + AES-GCM decrypt
→  aes_key  →  GRANTED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92640" y="4937760"/>
            <a:ext cx="1920240" cy="594360"/>
          </a:xfrm>
          <a:prstGeom prst="rect">
            <a:avLst/>
          </a:prstGeom>
          <a:solidFill>
            <a:srgbClr val="301010"/>
          </a:solidFill>
          <a:ln w="1524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84080" y="4965192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91C1C"/>
                </a:solidFill>
                <a:latin typeface="Courier New"/>
              </a:rPr>
              <a:t>ACCESS
DENIED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263640"/>
            <a:ext cx="12188952" cy="36576"/>
          </a:xfrm>
          <a:prstGeom prst="rect">
            <a:avLst/>
          </a:prstGeom>
          <a:solidFill>
            <a:srgbClr val="4A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12188952" cy="36576"/>
          </a:xfrm>
          <a:prstGeom prst="rect">
            <a:avLst/>
          </a:prstGeom>
          <a:solidFill>
            <a:srgbClr val="4A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AA6A"/>
                </a:solidFill>
                <a:latin typeface="Courier New"/>
              </a:rPr>
              <a:t>// 05  SECURITY PROPERTIES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8F5E0"/>
                </a:solidFill>
                <a:latin typeface="Courier New"/>
              </a:rPr>
              <a:t>What the attacker needs — and why they fail.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3657600" cy="1828800"/>
          </a:xfrm>
          <a:prstGeom prst="rect">
            <a:avLst/>
          </a:prstGeom>
          <a:solidFill>
            <a:srgbClr val="142A14"/>
          </a:solidFill>
          <a:ln w="15240">
            <a:solidFill>
              <a:srgbClr val="4A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02996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9A4A"/>
                </a:solidFill>
                <a:latin typeface="Courier New"/>
              </a:rPr>
              <a:t>CAPTURED HARDWARE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87168"/>
            <a:ext cx="3429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AAA6A"/>
                </a:solidFill>
                <a:latin typeface="Courier New"/>
              </a:rPr>
              <a:t>Terrain DB is AES-256-GCM ciphertext.
Without ECG — permanently inaccessible.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920240"/>
            <a:ext cx="3657600" cy="1828800"/>
          </a:xfrm>
          <a:prstGeom prst="rect">
            <a:avLst/>
          </a:prstGeom>
          <a:solidFill>
            <a:srgbClr val="142A14"/>
          </a:solidFill>
          <a:ln w="15240">
            <a:solidFill>
              <a:srgbClr val="4A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02996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9A4A"/>
                </a:solidFill>
                <a:latin typeface="Courier New"/>
              </a:rPr>
              <a:t>WRONG OPERATOR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487168"/>
            <a:ext cx="3429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AAA6A"/>
                </a:solidFill>
                <a:latin typeface="Courier New"/>
              </a:rPr>
              <a:t>Similarity &lt; 0.85 → wrong wrapping key
→ AES-GCM tag mismatch → denied.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920240"/>
            <a:ext cx="3657600" cy="1828800"/>
          </a:xfrm>
          <a:prstGeom prst="rect">
            <a:avLst/>
          </a:prstGeom>
          <a:solidFill>
            <a:srgbClr val="142A14"/>
          </a:solidFill>
          <a:ln w="15240">
            <a:solidFill>
              <a:srgbClr val="4A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202996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9A4A"/>
                </a:solidFill>
                <a:latin typeface="Courier New"/>
              </a:rPr>
              <a:t>CORRECT ECG, WRONG PIN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487168"/>
            <a:ext cx="3429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AAA6A"/>
                </a:solidFill>
                <a:latin typeface="Courier New"/>
              </a:rPr>
              <a:t>Similarity passes.
PIN salt missing → cryptographic failure.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86200"/>
            <a:ext cx="3657600" cy="1828800"/>
          </a:xfrm>
          <a:prstGeom prst="rect">
            <a:avLst/>
          </a:prstGeom>
          <a:solidFill>
            <a:srgbClr val="142A14"/>
          </a:solidFill>
          <a:ln w="15240">
            <a:solidFill>
              <a:srgbClr val="4A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99592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9A4A"/>
                </a:solidFill>
                <a:latin typeface="Courier New"/>
              </a:rPr>
              <a:t>STRESS STATE MISMATCH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453128"/>
            <a:ext cx="3429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AAA6A"/>
                </a:solidFill>
                <a:latin typeface="Courier New"/>
              </a:rPr>
              <a:t>5 templates cover the full spectrum.
Nearest match selected automatically.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3886200"/>
            <a:ext cx="3657600" cy="1828800"/>
          </a:xfrm>
          <a:prstGeom prst="rect">
            <a:avLst/>
          </a:prstGeom>
          <a:solidFill>
            <a:srgbClr val="142A14"/>
          </a:solidFill>
          <a:ln w="15240">
            <a:solidFill>
              <a:srgbClr val="4A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399592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9A4A"/>
                </a:solidFill>
                <a:latin typeface="Courier New"/>
              </a:rPr>
              <a:t>KEY NEVER STORED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453128"/>
            <a:ext cx="3429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AAA6A"/>
                </a:solidFill>
                <a:latin typeface="Courier New"/>
              </a:rPr>
              <a:t>aes_key exists only in RAM.
Derived fresh each authentication.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886200"/>
            <a:ext cx="3657600" cy="1828800"/>
          </a:xfrm>
          <a:prstGeom prst="rect">
            <a:avLst/>
          </a:prstGeom>
          <a:solidFill>
            <a:srgbClr val="142A14"/>
          </a:solidFill>
          <a:ln w="15240">
            <a:solidFill>
              <a:srgbClr val="4A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399592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9A4A"/>
                </a:solidFill>
                <a:latin typeface="Courier New"/>
              </a:rPr>
              <a:t>BRUTE FORCE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453128"/>
            <a:ext cx="3429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AAA6A"/>
                </a:solidFill>
                <a:latin typeface="Courier New"/>
              </a:rPr>
              <a:t>AES-256: 2^256 keyspace.
Computationally infeasible.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742432"/>
            <a:ext cx="11430000" cy="402336"/>
          </a:xfrm>
          <a:prstGeom prst="rect">
            <a:avLst/>
          </a:prstGeom>
          <a:solidFill>
            <a:srgbClr val="102010"/>
          </a:solidFill>
          <a:ln w="7620">
            <a:solidFill>
              <a:srgbClr val="6AA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579729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AAA6A"/>
                </a:solidFill>
                <a:latin typeface="Courier New"/>
              </a:rPr>
              <a:t>// PRODUCTION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5797296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AAA6A"/>
                </a:solidFill>
                <a:latin typeface="Courier New"/>
              </a:rPr>
              <a:t>In production: biometric profile stored in TPM/HSM on-device. Key derivation inside secure enclave — profile never exposed in memory. Current implementation demonstrates the cryptographic layer (HKDF + AES-256-GCM), identical regardless of storage backend.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263640"/>
            <a:ext cx="12188952" cy="36576"/>
          </a:xfrm>
          <a:prstGeom prst="rect">
            <a:avLst/>
          </a:prstGeom>
          <a:solidFill>
            <a:srgbClr val="4A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12188952" cy="36576"/>
          </a:xfrm>
          <a:prstGeom prst="rect">
            <a:avLst/>
          </a:prstGeom>
          <a:solidFill>
            <a:srgbClr val="4A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AA6A"/>
                </a:solidFill>
                <a:latin typeface="Courier New"/>
              </a:rPr>
              <a:t>// 06  ALTERNATIVE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8F5E0"/>
                </a:solidFill>
                <a:latin typeface="Courier New"/>
              </a:rPr>
              <a:t>System Extensions.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64208"/>
            <a:ext cx="11430000" cy="749808"/>
          </a:xfrm>
          <a:prstGeom prst="rect">
            <a:avLst/>
          </a:prstGeom>
          <a:solidFill>
            <a:srgbClr val="142A14"/>
          </a:solidFill>
          <a:ln w="10160">
            <a:solidFill>
              <a:srgbClr val="6AA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1907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AAA6A"/>
                </a:solidFill>
                <a:latin typeface="Courier New"/>
              </a:rPr>
              <a:t>LAYER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719072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5E0"/>
                </a:solidFill>
                <a:latin typeface="Courier New"/>
              </a:rPr>
              <a:t>Biometric — ECG + Respiration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029968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AA6A"/>
                </a:solidFill>
                <a:latin typeface="Courier New"/>
              </a:rPr>
              <a:t>Stress-invariant multi-template enrollment. Unique cardiac signature across all physiological states.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542032"/>
            <a:ext cx="11430000" cy="749808"/>
          </a:xfrm>
          <a:prstGeom prst="rect">
            <a:avLst/>
          </a:prstGeom>
          <a:solidFill>
            <a:srgbClr val="142A14"/>
          </a:solidFill>
          <a:ln w="10160">
            <a:solidFill>
              <a:srgbClr val="6AA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59689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AAA6A"/>
                </a:solidFill>
                <a:latin typeface="Courier New"/>
              </a:rPr>
              <a:t>LAYER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596896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5E0"/>
                </a:solidFill>
                <a:latin typeface="Courier New"/>
              </a:rPr>
              <a:t>PIN — Second Factor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907792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AA6A"/>
                </a:solidFill>
                <a:latin typeface="Courier New"/>
              </a:rPr>
              <a:t>HKDF salt derived from SHA-256(PIN). Correct biometrics + wrong PIN = cryptographic failure.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419856"/>
            <a:ext cx="11430000" cy="749808"/>
          </a:xfrm>
          <a:prstGeom prst="rect">
            <a:avLst/>
          </a:prstGeom>
          <a:solidFill>
            <a:srgbClr val="142A14"/>
          </a:solidFill>
          <a:ln w="10160">
            <a:solidFill>
              <a:srgbClr val="6AA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4747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AAA6A"/>
                </a:solidFill>
                <a:latin typeface="Courier New"/>
              </a:rPr>
              <a:t>LAYER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474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5E0"/>
                </a:solidFill>
                <a:latin typeface="Courier New"/>
              </a:rPr>
              <a:t>Random Seed — Independent AES Key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785616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AA6A"/>
                </a:solidFill>
                <a:latin typeface="Courier New"/>
              </a:rPr>
              <a:t>aes_key = os.urandom(32) — not derived from biometrics. Full biometric compromise cannot reconstruct the key.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297680"/>
            <a:ext cx="11430000" cy="749808"/>
          </a:xfrm>
          <a:prstGeom prst="rect">
            <a:avLst/>
          </a:prstGeom>
          <a:solidFill>
            <a:srgbClr val="142A14"/>
          </a:solidFill>
          <a:ln w="10160">
            <a:solidFill>
              <a:srgbClr val="6AA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35254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AAA6A"/>
                </a:solidFill>
                <a:latin typeface="Courier New"/>
              </a:rPr>
              <a:t>LAYER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352544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5E0"/>
                </a:solidFill>
                <a:latin typeface="Courier New"/>
              </a:rPr>
              <a:t>Two-Man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66344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AA6A"/>
                </a:solidFill>
                <a:latin typeface="Courier New"/>
              </a:rPr>
              <a:t>Two operators must authenticate simultaneously. Neither can unlock the system alone. NATO nuclear standard.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175504"/>
            <a:ext cx="11430000" cy="749808"/>
          </a:xfrm>
          <a:prstGeom prst="rect">
            <a:avLst/>
          </a:prstGeom>
          <a:solidFill>
            <a:srgbClr val="142A14"/>
          </a:solidFill>
          <a:ln w="10160">
            <a:solidFill>
              <a:srgbClr val="6AA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23036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AAA6A"/>
                </a:solidFill>
                <a:latin typeface="Courier New"/>
              </a:rPr>
              <a:t>LAYER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5230368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5E0"/>
                </a:solidFill>
                <a:latin typeface="Courier New"/>
              </a:rPr>
              <a:t>Dead Man's Switch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5541264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AA6A"/>
                </a:solidFill>
                <a:latin typeface="Courier New"/>
              </a:rPr>
              <a:t>Key expires if operator does not re-authenticate every N minutes. Capture or incapacitation = automatic revocation.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263640"/>
            <a:ext cx="12188952" cy="36576"/>
          </a:xfrm>
          <a:prstGeom prst="rect">
            <a:avLst/>
          </a:prstGeom>
          <a:solidFill>
            <a:srgbClr val="4A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12188952" cy="36576"/>
          </a:xfrm>
          <a:prstGeom prst="rect">
            <a:avLst/>
          </a:prstGeom>
          <a:solidFill>
            <a:srgbClr val="4A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AA6A"/>
                </a:solidFill>
                <a:latin typeface="Courier New"/>
              </a:rPr>
              <a:t>// 07  ACADEMIC FOUNDATION + NOVELTY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8F5E0"/>
                </a:solidFill>
                <a:latin typeface="Courier New"/>
              </a:rPr>
              <a:t>Grounded in research — filling the gap.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45920"/>
            <a:ext cx="5486400" cy="4480560"/>
          </a:xfrm>
          <a:prstGeom prst="rect">
            <a:avLst/>
          </a:prstGeom>
          <a:solidFill>
            <a:srgbClr val="102010"/>
          </a:solidFill>
          <a:ln w="10160">
            <a:solidFill>
              <a:srgbClr val="6AA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AAA6A"/>
                </a:solidFill>
                <a:latin typeface="Courier New"/>
              </a:rPr>
              <a:t>LITERATURE CONFIRMS OUR FOUNDATION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48840"/>
            <a:ext cx="5212080" cy="1234440"/>
          </a:xfrm>
          <a:prstGeom prst="rect">
            <a:avLst/>
          </a:prstGeom>
          <a:solidFill>
            <a:srgbClr val="142A14"/>
          </a:solidFill>
          <a:ln w="15240">
            <a:solidFill>
              <a:srgbClr val="4A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2199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F5E0"/>
                </a:solidFill>
                <a:latin typeface="Courier New"/>
              </a:rPr>
              <a:t>ECG is person-distinctive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AAA6A"/>
                </a:solidFill>
                <a:latin typeface="Courier New"/>
              </a:rPr>
              <a:t>Biel et al. — "ECG Analysis: A New Approach in
Human Identification" — IEEE Trans. 2001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9A4A"/>
                </a:solidFill>
                <a:latin typeface="Courier New"/>
              </a:rPr>
              <a:t>→ validates that ECG uniquely identifies individuals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520440"/>
            <a:ext cx="5212080" cy="1234440"/>
          </a:xfrm>
          <a:prstGeom prst="rect">
            <a:avLst/>
          </a:prstGeom>
          <a:solidFill>
            <a:srgbClr val="142A14"/>
          </a:solidFill>
          <a:ln w="15240">
            <a:solidFill>
              <a:srgbClr val="4A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9359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F5E0"/>
                </a:solidFill>
                <a:latin typeface="Courier New"/>
              </a:rPr>
              <a:t>ECG → crypto key is feasible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319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AAA6A"/>
                </a:solidFill>
                <a:latin typeface="Courier New"/>
              </a:rPr>
              <a:t>Venkatasubramanian et al. — "EKG-based Key
Agreement in Body Sensor Networks" — IEEE 2008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43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9A4A"/>
                </a:solidFill>
                <a:latin typeface="Courier New"/>
              </a:rPr>
              <a:t>→ confirms 49.99% Hamming distance between persons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892040"/>
            <a:ext cx="5212080" cy="1234440"/>
          </a:xfrm>
          <a:prstGeom prst="rect">
            <a:avLst/>
          </a:prstGeom>
          <a:solidFill>
            <a:srgbClr val="142A14"/>
          </a:solidFill>
          <a:ln w="15240">
            <a:solidFill>
              <a:srgbClr val="4A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96519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F5E0"/>
                </a:solidFill>
                <a:latin typeface="Courier New"/>
              </a:rPr>
              <a:t>Physiological signals for 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035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AAA6A"/>
                </a:solidFill>
                <a:latin typeface="Courier New"/>
              </a:rPr>
              <a:t>Poon et al. — "A Novel Biometrics Method to
Secure Wireless Body Area Sensor Networks" — 2006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7150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9A4A"/>
                </a:solidFill>
                <a:latin typeface="Courier New"/>
              </a:rPr>
              <a:t>→ proves IPI-based keys are random, time-variant,
   person-distinctive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645920"/>
            <a:ext cx="5394960" cy="4480560"/>
          </a:xfrm>
          <a:prstGeom prst="rect">
            <a:avLst/>
          </a:prstGeom>
          <a:solidFill>
            <a:srgbClr val="102010"/>
          </a:solidFill>
          <a:ln w="19050">
            <a:solidFill>
              <a:srgbClr val="4A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7373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9A4A"/>
                </a:solidFill>
                <a:latin typeface="Courier New"/>
              </a:rPr>
              <a:t>THE GAP WE FILL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2148840"/>
            <a:ext cx="5120640" cy="1234440"/>
          </a:xfrm>
          <a:prstGeom prst="rect">
            <a:avLst/>
          </a:prstGeom>
          <a:solidFill>
            <a:srgbClr val="142A14"/>
          </a:solidFill>
          <a:ln w="1524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2219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C1C"/>
                </a:solidFill>
                <a:latin typeface="Courier New"/>
              </a:rPr>
              <a:t>All existing schemes: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587752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AAA6A"/>
                </a:solidFill>
                <a:latin typeface="Courier New"/>
              </a:rPr>
              <a:t>Single enrollment at rest.
Fail under physiological stress.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3520440"/>
            <a:ext cx="5120640" cy="1234440"/>
          </a:xfrm>
          <a:prstGeom prst="rect">
            <a:avLst/>
          </a:prstGeom>
          <a:solidFill>
            <a:srgbClr val="142A14"/>
          </a:solidFill>
          <a:ln w="1524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35935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C1C"/>
                </a:solidFill>
                <a:latin typeface="Courier New"/>
              </a:rPr>
              <a:t>None address: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959352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AAA6A"/>
                </a:solidFill>
                <a:latin typeface="Courier New"/>
              </a:rPr>
              <a:t>Operator authentication at
variable stress levels.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37960" y="4892040"/>
            <a:ext cx="5120640" cy="1234440"/>
          </a:xfrm>
          <a:prstGeom prst="rect">
            <a:avLst/>
          </a:prstGeom>
          <a:solidFill>
            <a:srgbClr val="142A14"/>
          </a:solidFill>
          <a:ln w="15240">
            <a:solidFill>
              <a:srgbClr val="4A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49651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9A4A"/>
                </a:solidFill>
                <a:latin typeface="Courier New"/>
              </a:rPr>
              <a:t>BioKey contribution: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5330952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5E0"/>
                </a:solidFill>
                <a:latin typeface="Courier New"/>
              </a:rPr>
              <a:t>5-template stress-invariant enrollment.
HKDF + PIN second factor.
AES-256-GCM — NATO standard.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263640"/>
            <a:ext cx="12188952" cy="36576"/>
          </a:xfrm>
          <a:prstGeom prst="rect">
            <a:avLst/>
          </a:prstGeom>
          <a:solidFill>
            <a:srgbClr val="4A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12188952" cy="36576"/>
          </a:xfrm>
          <a:prstGeom prst="rect">
            <a:avLst/>
          </a:prstGeom>
          <a:solidFill>
            <a:srgbClr val="4A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AA6A"/>
                </a:solidFill>
                <a:latin typeface="Courier New"/>
              </a:rPr>
              <a:t>// 08 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8F5E0"/>
                </a:solidFill>
                <a:latin typeface="Courier New"/>
              </a:rPr>
              <a:t>Any role where the right person
must be at the controls — right now.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468880"/>
            <a:ext cx="5486400" cy="3383280"/>
          </a:xfrm>
          <a:prstGeom prst="rect">
            <a:avLst/>
          </a:prstGeom>
          <a:solidFill>
            <a:srgbClr val="142A14"/>
          </a:solidFill>
          <a:ln w="15240">
            <a:solidFill>
              <a:srgbClr val="4A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7860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91C1C"/>
                </a:solidFill>
                <a:latin typeface="Courier New"/>
              </a:rPr>
              <a:t>MILITARY / DEFENCE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  <a:latin typeface="Courier New"/>
              </a:rPr>
              <a:t>→  Drone operator 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  <a:latin typeface="Courier New"/>
              </a:rPr>
              <a:t>→  Pilot / co-pilot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  <a:latin typeface="Courier New"/>
              </a:rPr>
              <a:t>→  Nuclear launch authority (two-man rule)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720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  <a:latin typeface="Courier New"/>
              </a:rPr>
              <a:t>→  Forward operating base access control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468880"/>
            <a:ext cx="5394960" cy="3383280"/>
          </a:xfrm>
          <a:prstGeom prst="rect">
            <a:avLst/>
          </a:prstGeom>
          <a:solidFill>
            <a:srgbClr val="142A14"/>
          </a:solidFill>
          <a:ln w="19050">
            <a:solidFill>
              <a:srgbClr val="4A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5786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9A4A"/>
                </a:solidFill>
                <a:latin typeface="Courier New"/>
              </a:rPr>
              <a:t>CIVIL / INDUSTRIAL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063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  <a:latin typeface="Courier New"/>
              </a:rPr>
              <a:t>→  Surgeon — operating room access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566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  <a:latin typeface="Courier New"/>
              </a:rPr>
              <a:t>→  Air traffic controller verification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0690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  <a:latin typeface="Courier New"/>
              </a:rPr>
              <a:t>→  Nuclear plant operator authentication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5720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  <a:latin typeface="Courier New"/>
              </a:rPr>
              <a:t>→  Critical infrastructure access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89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AAA6A"/>
                </a:solidFill>
                <a:latin typeface="Courier New"/>
              </a:rPr>
              <a:t>Same platform. Same cryptographic guarantees. Different operator profiles.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263640"/>
            <a:ext cx="12188952" cy="36576"/>
          </a:xfrm>
          <a:prstGeom prst="rect">
            <a:avLst/>
          </a:prstGeom>
          <a:solidFill>
            <a:srgbClr val="4A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12188952" cy="36576"/>
          </a:xfrm>
          <a:prstGeom prst="rect">
            <a:avLst/>
          </a:prstGeom>
          <a:solidFill>
            <a:srgbClr val="4A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63640"/>
            <a:ext cx="12188952" cy="36576"/>
          </a:xfrm>
          <a:prstGeom prst="rect">
            <a:avLst/>
          </a:prstGeom>
          <a:solidFill>
            <a:srgbClr val="4A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1">
                <a:solidFill>
                  <a:srgbClr val="E8F5E0"/>
                </a:solidFill>
                <a:latin typeface="Courier New"/>
              </a:rPr>
              <a:t>"Your heartbeat is the key —
at any stress level."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06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4A9A4A"/>
                </a:solidFill>
                <a:latin typeface="Courier New"/>
              </a:rPr>
              <a:t>AES-256-GCM   ·   HKDF-SHA256   ·   Multi-Template HRV   ·   PIN Second Factor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92040"/>
            <a:ext cx="12188952" cy="45720"/>
          </a:xfrm>
          <a:prstGeom prst="rect">
            <a:avLst/>
          </a:prstGeom>
          <a:solidFill>
            <a:srgbClr val="1A3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074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6AAA6A"/>
                </a:solidFill>
                <a:latin typeface="Courier New"/>
              </a:rPr>
              <a:t>github.com/IosifSramec/biokey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577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AAA6A"/>
                </a:solidFill>
                <a:latin typeface="Courier New"/>
              </a:rPr>
              <a:t>HackTM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